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90" r:id="rId3"/>
    <p:sldId id="339" r:id="rId4"/>
    <p:sldId id="345" r:id="rId5"/>
    <p:sldId id="346" r:id="rId6"/>
    <p:sldId id="347" r:id="rId7"/>
    <p:sldId id="348" r:id="rId8"/>
    <p:sldId id="349" r:id="rId9"/>
    <p:sldId id="351" r:id="rId10"/>
    <p:sldId id="350" r:id="rId11"/>
    <p:sldId id="265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5"/>
    <p:restoredTop sz="96306"/>
  </p:normalViewPr>
  <p:slideViewPr>
    <p:cSldViewPr snapToGrid="0">
      <p:cViewPr>
        <p:scale>
          <a:sx n="154" d="100"/>
          <a:sy n="154" d="100"/>
        </p:scale>
        <p:origin x="13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3B25C-F6C2-C945-A4EC-DD6783FA1676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839B9-C362-B54E-A8D2-200341F941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2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9C7CC-C5F4-4693-B1F7-2A3DC83E93D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046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6912D-0EE5-F780-A345-3A8E0C58F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339E9E-9358-7C6B-83BF-764C5D845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8ADF2F-F607-8B6E-45D2-74EC03FC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383F4C-F7A2-5567-7147-E04A0D0B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66E2-9FED-47F0-8DA8-72677CA7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32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66577-22F3-B4F8-5DB3-07A5E86D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FBD307-F263-CFF7-504D-52A80D27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000720-87C3-FCB6-7E5E-DBA19F90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C14BF8-EDEB-0797-41EA-A2A2416AC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4146FC-CEEF-BAD2-3A1D-CE87C6A7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10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CA7FE-808E-19BD-0A3D-0C891DC4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2CBE5E-1FDF-FA88-8396-C38A1ED9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717E4-DC8C-FFBF-9C0A-618DDE90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39509-4942-3FE8-C313-998C9A1F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3BA86-5149-BD87-83F1-0C874B8C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08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1030F-A23E-C937-6F5A-890B5B9C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452800-33DA-057A-F6D4-4FE268B54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06FAEE-C210-7A3C-80D4-84B6BE342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DFBFCD-C714-31A0-A08A-82AC7CDE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C343CC-FB5C-1707-4A31-643AE359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DEEAEA-FE7C-C89A-39FD-5D70681D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01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EE2A6-9B22-971E-1891-F57A10AD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EA501A-1399-F83D-105D-0987A729C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813C57-5853-6B29-739B-75073718C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68B2A2-1EAF-952D-0AF0-65238B2EA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1FBFC1-26A5-5EB5-F78D-63CBA180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71555F-F8DC-B086-C703-16B142D0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DCB868-B504-190C-B08F-3CE87C66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93E3BB-8735-AC89-112F-FC526B19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60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78111-EE42-D0AA-2C80-F403CC2D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E45D0E-40F0-4CE5-17F2-D6C619FD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F5AB2D-834B-291D-1373-25D00A67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63850B-75B4-30F0-ADF8-47CE6097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331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EA1EF1-704A-91EF-DEEB-2017FD10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B20236-CE23-41C6-D5A7-8F927A8F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9245CF-282F-B35F-FA3F-C6AA30AE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97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900DB-43DF-A199-43A9-C6A5B421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7731E-F12F-AA74-2204-F0CB4D038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97465C-A981-0B11-397F-5D787422E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E2F45C-7AF9-0A0E-0EA2-F8FC0ED9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43CCC8-6102-5C54-84DA-12344152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A107F5-2C92-457B-F794-48F3FB6D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38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F8FD5-0373-52CB-C985-A24C4EB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484154-F59E-F9EF-665C-3D482CD87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4FB706-DB4F-E6E9-0F6D-B502C25CB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8ABFD0-5106-5075-9EA8-12F87A85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68317E-5A49-CF83-28E0-14F7531D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6C86B3-8855-5709-D317-98433D1BD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14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05F9B-2EE8-BA06-70CF-664A4710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126DB9-5B62-8FEC-2BD4-AB7E232BD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2E0087-011A-AE45-8A17-1A58B0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4AB31-F5DE-387D-BBCA-EAED3B4D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FF9CD-8BE7-5132-5B57-4C50E835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3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82A2C6-5348-E4E3-43E8-88A42D6F0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7CD122-98FA-CF81-08E7-987254607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5C225E-92E4-9794-B940-C114C61F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1E179-BA9A-7187-47E6-1042F790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6C7195-1E9D-59CB-FD16-A31A31E68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5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8" cy="68579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678" y="2275400"/>
            <a:ext cx="4085072" cy="772601"/>
          </a:xfrm>
        </p:spPr>
        <p:txBody>
          <a:bodyPr anchor="t">
            <a:normAutofit/>
          </a:bodyPr>
          <a:lstStyle>
            <a:lvl1pPr>
              <a:defRPr sz="5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6678" y="3024658"/>
            <a:ext cx="4085072" cy="580525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2167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259430" y="5551840"/>
            <a:ext cx="1281889" cy="374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33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37464" y="4293945"/>
            <a:ext cx="2540000" cy="347251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1833" b="1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7464" y="4819379"/>
            <a:ext cx="2540000" cy="347251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1208" b="1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37464" y="4493699"/>
            <a:ext cx="2540000" cy="347251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1250" b="0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CF431FBC-869A-42BD-8876-A0B0DA4D2D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032" y="757370"/>
            <a:ext cx="24257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67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58986412-1BC4-47CA-9C5B-0E42A1072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12609C0-CE8E-4F26-9C56-26779C292085}"/>
              </a:ext>
            </a:extLst>
          </p:cNvPr>
          <p:cNvSpPr txBox="1"/>
          <p:nvPr userDrawn="1"/>
        </p:nvSpPr>
        <p:spPr>
          <a:xfrm>
            <a:off x="677140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C8BD96-F01B-45B8-816D-46F9D05B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2793" y="2369130"/>
            <a:ext cx="3686763" cy="647121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r>
              <a:rPr lang="es-ES"/>
              <a:t>Gracias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11DB0538-BF7A-408B-8D8F-356A5E0623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7459" y="3040764"/>
            <a:ext cx="3785542" cy="800988"/>
          </a:xfrm>
        </p:spPr>
        <p:txBody>
          <a:bodyPr lIns="0">
            <a:noAutofit/>
          </a:bodyPr>
          <a:lstStyle>
            <a:lvl1pPr marL="0" indent="0">
              <a:lnSpc>
                <a:spcPts val="2333"/>
              </a:lnSpc>
              <a:spcBef>
                <a:spcPts val="750"/>
              </a:spcBef>
              <a:buNone/>
              <a:defRPr sz="2083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B1C9EB0-95F2-4DA1-AF97-1506B0C3FD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71152" y="4561438"/>
            <a:ext cx="2714037" cy="263736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ipsum@info.com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7C874BE-A19E-48B7-AC48-D4C857D7A9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1152" y="4286963"/>
            <a:ext cx="2714036" cy="263736"/>
          </a:xfrm>
        </p:spPr>
        <p:txBody>
          <a:bodyPr lIns="0">
            <a:noAutofit/>
          </a:bodyPr>
          <a:lstStyle>
            <a:lvl1pPr marL="0" indent="0">
              <a:lnSpc>
                <a:spcPts val="2333"/>
              </a:lnSpc>
              <a:buNone/>
              <a:defRPr sz="18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83F7AB7-EF84-4792-8807-631A61157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71152" y="4887929"/>
            <a:ext cx="2714037" cy="263736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3B4663-693F-4482-99D6-BFAAF6A3D27D}"/>
              </a:ext>
            </a:extLst>
          </p:cNvPr>
          <p:cNvSpPr txBox="1"/>
          <p:nvPr userDrawn="1"/>
        </p:nvSpPr>
        <p:spPr>
          <a:xfrm>
            <a:off x="7550876" y="5581999"/>
            <a:ext cx="1535998" cy="374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1833" b="1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rPr>
              <a:t>Ve más allá</a:t>
            </a:r>
          </a:p>
        </p:txBody>
      </p:sp>
    </p:spTree>
    <p:extLst>
      <p:ext uri="{BB962C8B-B14F-4D97-AF65-F5344CB8AC3E}">
        <p14:creationId xmlns:p14="http://schemas.microsoft.com/office/powerpoint/2010/main" val="1783690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5449B5B-E8A3-47B9-BE8C-1442A097B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36793" y="706555"/>
            <a:ext cx="3686763" cy="1017764"/>
          </a:xfrm>
        </p:spPr>
        <p:txBody>
          <a:bodyPr>
            <a:normAutofit/>
          </a:bodyPr>
          <a:lstStyle>
            <a:lvl1pPr>
              <a:defRPr sz="5250"/>
            </a:lvl1pPr>
          </a:lstStyle>
          <a:p>
            <a:r>
              <a:rPr lang="es-ES"/>
              <a:t>Índice</a:t>
            </a:r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8C616AF-0352-4AE7-BD28-0925BB5C16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13922" y="1895446"/>
            <a:ext cx="6744375" cy="3579665"/>
          </a:xfrm>
        </p:spPr>
        <p:txBody>
          <a:bodyPr/>
          <a:lstStyle>
            <a:lvl1pPr defTabSz="5983313">
              <a:tabLst/>
              <a:defRPr/>
            </a:lvl1pPr>
            <a:lvl2pPr defTabSz="1678715">
              <a:tabLst>
                <a:tab pos="5983313" algn="l"/>
              </a:tabLst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01</a:t>
            </a:r>
          </a:p>
          <a:p>
            <a:pPr lvl="1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02</a:t>
            </a:r>
          </a:p>
          <a:p>
            <a:pPr lvl="1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03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04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05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06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07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08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09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C9A96A-A9B6-43C0-858A-F037F92BE03F}"/>
              </a:ext>
            </a:extLst>
          </p:cNvPr>
          <p:cNvSpPr txBox="1"/>
          <p:nvPr userDrawn="1"/>
        </p:nvSpPr>
        <p:spPr>
          <a:xfrm>
            <a:off x="360774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D52EBB-81B5-4744-AA02-0E98817C6CEE}"/>
              </a:ext>
            </a:extLst>
          </p:cNvPr>
          <p:cNvSpPr/>
          <p:nvPr userDrawn="1"/>
        </p:nvSpPr>
        <p:spPr>
          <a:xfrm>
            <a:off x="11436615" y="6308837"/>
            <a:ext cx="320808" cy="320808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5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EA0D54E8-0AA0-4881-8D77-02CAACF36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035" y="277478"/>
            <a:ext cx="1166712" cy="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98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360774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1436615" y="6308837"/>
            <a:ext cx="320808" cy="320808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5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27D429-903C-403E-A91E-3413C7FB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386" y="985133"/>
            <a:ext cx="5468291" cy="585905"/>
          </a:xfrm>
        </p:spPr>
        <p:txBody>
          <a:bodyPr lIns="0" anchor="t">
            <a:noAutofit/>
          </a:bodyPr>
          <a:lstStyle>
            <a:lvl1pPr>
              <a:defRPr sz="3608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53EF393-3DBA-494A-AF34-ACE206FF8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386" y="2305889"/>
            <a:ext cx="7459927" cy="3792758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spcAft>
                <a:spcPts val="750"/>
              </a:spcAft>
              <a:buNone/>
              <a:defRPr sz="12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FAC65DA7-3C33-485C-B20C-A039012FE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386" y="1810812"/>
            <a:ext cx="4726781" cy="495077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0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000" err="1"/>
              <a:t>Aximinct</a:t>
            </a:r>
            <a:r>
              <a:rPr lang="es-ES" sz="2000"/>
              <a:t> </a:t>
            </a:r>
            <a:r>
              <a:rPr lang="es-ES" sz="2000" err="1"/>
              <a:t>emquibus</a:t>
            </a:r>
            <a:r>
              <a:rPr lang="es-ES" sz="2000"/>
              <a:t> et </a:t>
            </a:r>
            <a:r>
              <a:rPr lang="es-ES" sz="2000" err="1"/>
              <a:t>facium</a:t>
            </a:r>
            <a:r>
              <a:rPr lang="es-ES" sz="2000"/>
              <a:t> </a:t>
            </a:r>
            <a:r>
              <a:rPr lang="es-ES" sz="2000" err="1"/>
              <a:t>natur</a:t>
            </a:r>
            <a:endParaRPr lang="en-US" sz="20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24FC6AE-9F44-4BC7-8570-A9AC27B43E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035" y="277478"/>
            <a:ext cx="1166712" cy="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5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EC1491-8174-4C91-B52B-99EB2D3F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39A93D-38A5-6908-EA30-C8D31252C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3CEB6C-CE20-8236-A5E3-3B49EBA72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DD51A-2695-1944-9F59-391508BC433B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CB3BE-B90A-04E9-671F-2CC080884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E7B42-1859-3850-36C3-D631DD69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39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E576E-9578-472B-AD3E-F6CC7598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112" y="2198639"/>
            <a:ext cx="4085072" cy="1244133"/>
          </a:xfrm>
        </p:spPr>
        <p:txBody>
          <a:bodyPr>
            <a:noAutofit/>
          </a:bodyPr>
          <a:lstStyle/>
          <a:p>
            <a:r>
              <a:rPr lang="es-ES" sz="3600" dirty="0"/>
              <a:t>Orbital </a:t>
            </a:r>
            <a:r>
              <a:rPr lang="es-ES" sz="3600" dirty="0" err="1"/>
              <a:t>maneuvering</a:t>
            </a:r>
            <a:r>
              <a:rPr lang="es-ES" sz="3600" dirty="0"/>
              <a:t> </a:t>
            </a:r>
            <a:r>
              <a:rPr lang="es-ES" sz="3600" dirty="0" err="1"/>
              <a:t>simulation</a:t>
            </a:r>
            <a:endParaRPr lang="es-ES" sz="36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8135E8-F95A-4929-B587-5FD2BEA4B3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2579" y="4234240"/>
            <a:ext cx="3323421" cy="877821"/>
          </a:xfrm>
        </p:spPr>
        <p:txBody>
          <a:bodyPr/>
          <a:lstStyle/>
          <a:p>
            <a:r>
              <a:rPr lang="es-ES" sz="1800" dirty="0"/>
              <a:t>Antonio Hernández-</a:t>
            </a:r>
            <a:r>
              <a:rPr lang="es-ES" sz="1800" dirty="0" err="1"/>
              <a:t>Rodicio</a:t>
            </a:r>
            <a:r>
              <a:rPr lang="es-ES" sz="1800" dirty="0"/>
              <a:t> Mateos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22FBB9-94E0-411D-9D84-CA342F95E9F4}"/>
              </a:ext>
            </a:extLst>
          </p:cNvPr>
          <p:cNvSpPr txBox="1"/>
          <p:nvPr/>
        </p:nvSpPr>
        <p:spPr>
          <a:xfrm>
            <a:off x="3600956" y="3814377"/>
            <a:ext cx="20357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November 25</a:t>
            </a:r>
            <a:r>
              <a:rPr lang="en-US" sz="1500" baseline="30000" dirty="0">
                <a:solidFill>
                  <a:schemeClr val="bg1"/>
                </a:solidFill>
              </a:rPr>
              <a:t>th</a:t>
            </a:r>
            <a:r>
              <a:rPr lang="en-US" sz="1500" dirty="0">
                <a:solidFill>
                  <a:schemeClr val="bg1"/>
                </a:solidFill>
              </a:rPr>
              <a:t>,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3F36B-6CBD-D021-84EA-5F754B16CF1D}"/>
              </a:ext>
            </a:extLst>
          </p:cNvPr>
          <p:cNvSpPr txBox="1"/>
          <p:nvPr/>
        </p:nvSpPr>
        <p:spPr>
          <a:xfrm>
            <a:off x="8707190" y="5665502"/>
            <a:ext cx="337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0" i="0" dirty="0">
                <a:solidFill>
                  <a:schemeClr val="bg1"/>
                </a:solidFill>
                <a:effectLst/>
                <a:latin typeface="Sunflower"/>
              </a:rPr>
              <a:t>NASA – </a:t>
            </a:r>
            <a:r>
              <a:rPr lang="es-ES" b="0" i="0" dirty="0">
                <a:solidFill>
                  <a:srgbClr val="FFFFFF"/>
                </a:solidFill>
                <a:effectLst/>
                <a:latin typeface="Sunflower"/>
              </a:rPr>
              <a:t>Hubble </a:t>
            </a:r>
            <a:r>
              <a:rPr lang="es-ES" b="0" i="0" dirty="0" err="1">
                <a:solidFill>
                  <a:srgbClr val="FFFFFF"/>
                </a:solidFill>
                <a:effectLst/>
                <a:latin typeface="Sunflower"/>
              </a:rPr>
              <a:t>Against</a:t>
            </a:r>
            <a:r>
              <a:rPr lang="es-ES" b="0" i="0" dirty="0">
                <a:solidFill>
                  <a:srgbClr val="FFFFFF"/>
                </a:solidFill>
                <a:effectLst/>
                <a:latin typeface="Sunflower"/>
              </a:rPr>
              <a:t> </a:t>
            </a:r>
            <a:r>
              <a:rPr lang="es-ES" b="0" i="0" dirty="0" err="1">
                <a:solidFill>
                  <a:srgbClr val="FFFFFF"/>
                </a:solidFill>
                <a:effectLst/>
                <a:latin typeface="Sunflower"/>
              </a:rPr>
              <a:t>Earth</a:t>
            </a:r>
            <a:r>
              <a:rPr lang="es-ES" dirty="0">
                <a:solidFill>
                  <a:srgbClr val="FFFFFF"/>
                </a:solidFill>
                <a:latin typeface="Sunflower"/>
              </a:rPr>
              <a:t> </a:t>
            </a:r>
            <a:r>
              <a:rPr lang="es-ES" dirty="0" err="1">
                <a:solidFill>
                  <a:srgbClr val="FFFFFF"/>
                </a:solidFill>
                <a:latin typeface="Sunflower"/>
              </a:rPr>
              <a:t>Horizon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38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77AB43-F98E-44C0-A94F-73D42AF4D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5653" y="1670322"/>
            <a:ext cx="8305212" cy="4899338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Introduction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State</a:t>
            </a:r>
            <a:r>
              <a:rPr lang="es-ES" b="1" dirty="0"/>
              <a:t> </a:t>
            </a:r>
            <a:r>
              <a:rPr lang="es-ES" b="1" dirty="0" err="1"/>
              <a:t>representation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/>
              <a:t>Orbital </a:t>
            </a:r>
            <a:r>
              <a:rPr lang="es-ES" b="1" dirty="0" err="1"/>
              <a:t>dynamics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Hohmann</a:t>
            </a:r>
            <a:r>
              <a:rPr lang="es-ES" b="1" dirty="0"/>
              <a:t> </a:t>
            </a:r>
            <a:r>
              <a:rPr lang="es-ES" b="1" dirty="0" err="1"/>
              <a:t>transfers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Problem</a:t>
            </a:r>
            <a:r>
              <a:rPr lang="es-ES" b="1" dirty="0"/>
              <a:t> </a:t>
            </a:r>
            <a:r>
              <a:rPr lang="es-ES" b="1" dirty="0" err="1"/>
              <a:t>parametrization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DBA0D4-046D-4903-BD0F-514646AD15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18CB0DAE-2F9D-4A0E-97EE-F41A1712A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Contents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534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13284BF-C89B-4CDB-94DB-C59F079CE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22DBF1-9AEA-43F1-892A-5C930C04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Introduction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7DDE4F4-D9F2-4A23-9F19-DB370BDFBC2C}"/>
              </a:ext>
            </a:extLst>
          </p:cNvPr>
          <p:cNvSpPr txBox="1">
            <a:spLocks/>
          </p:cNvSpPr>
          <p:nvPr/>
        </p:nvSpPr>
        <p:spPr>
          <a:xfrm>
            <a:off x="483824" y="1566904"/>
            <a:ext cx="4209557" cy="2552920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goals of the sessions are: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Understand orbital dynamics as a non-linear system of differential equation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Simulate orbital dynamics by numerical integration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Simulate an orbit raising operation using impulsive maneuvers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CA7ED4-0817-DCC1-357F-A18ECEB8B584}"/>
              </a:ext>
            </a:extLst>
          </p:cNvPr>
          <p:cNvSpPr txBox="1">
            <a:spLocks/>
          </p:cNvSpPr>
          <p:nvPr/>
        </p:nvSpPr>
        <p:spPr>
          <a:xfrm>
            <a:off x="7392075" y="1566904"/>
            <a:ext cx="4209557" cy="2552920"/>
          </a:xfrm>
          <a:prstGeom prst="rect">
            <a:avLst/>
          </a:prstGeom>
        </p:spPr>
        <p:txBody>
          <a:bodyPr vert="horz" lIns="0" tIns="38100" rIns="76200" bIns="38100" rtlCol="0">
            <a:normAutofit fontScale="92500" lnSpcReduction="2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 achieve that, the steps we’ll follow are: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Review applicable theory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Parametrize our initial and final orbits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Simulate the initial orbit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Simulate the orbit raising maneuver assuming impulsive burns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Simulate the orbit raising maneuver considering non-instantaneous burns (future work)</a:t>
            </a:r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89083970-19C1-5427-94A9-77301CBD17C5}"/>
              </a:ext>
            </a:extLst>
          </p:cNvPr>
          <p:cNvSpPr/>
          <p:nvPr/>
        </p:nvSpPr>
        <p:spPr>
          <a:xfrm>
            <a:off x="5130351" y="2581360"/>
            <a:ext cx="2589451" cy="6716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4" descr="ESA - Recuperado el quinto satélite Galileo, que ya transmite señales de  navegación">
            <a:extLst>
              <a:ext uri="{FF2B5EF4-FFF2-40B4-BE49-F238E27FC236}">
                <a16:creationId xmlns:a16="http://schemas.microsoft.com/office/drawing/2014/main" id="{C0BBCBCC-F531-D308-20D3-283232FDA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619" y="4200638"/>
            <a:ext cx="3877183" cy="218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941C3E1-0886-94BA-F263-686B0C0A5EC0}"/>
              </a:ext>
            </a:extLst>
          </p:cNvPr>
          <p:cNvSpPr txBox="1"/>
          <p:nvPr/>
        </p:nvSpPr>
        <p:spPr>
          <a:xfrm>
            <a:off x="8155979" y="5129513"/>
            <a:ext cx="1462117" cy="323165"/>
          </a:xfrm>
          <a:prstGeom prst="rect">
            <a:avLst/>
          </a:prstGeom>
          <a:noFill/>
          <a:ln w="19050">
            <a:solidFill>
              <a:srgbClr val="2B5B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Galileo Satellite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2629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3872-145C-AFFB-BBEB-BAAA7720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783ADB9-EF88-48D9-389C-2A5AC0E0A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1F4134C-79DA-A1E6-629E-347EBFA1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State</a:t>
            </a:r>
            <a:r>
              <a:rPr lang="es-ES" dirty="0"/>
              <a:t> </a:t>
            </a:r>
            <a:r>
              <a:rPr lang="es-ES" dirty="0" err="1"/>
              <a:t>representation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E9475840-3378-2C0F-F3B0-B06AA7D705D9}"/>
              </a:ext>
            </a:extLst>
          </p:cNvPr>
          <p:cNvSpPr txBox="1">
            <a:spLocks/>
          </p:cNvSpPr>
          <p:nvPr/>
        </p:nvSpPr>
        <p:spPr>
          <a:xfrm>
            <a:off x="483824" y="1566904"/>
            <a:ext cx="10521344" cy="2552920"/>
          </a:xfrm>
          <a:prstGeom prst="rect">
            <a:avLst/>
          </a:prstGeom>
        </p:spPr>
        <p:txBody>
          <a:bodyPr vert="horz" lIns="0" tIns="38100" rIns="76200" bIns="38100" rtlCol="0">
            <a:normAutofit lnSpcReduction="1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state representations are needed to simulate the orbital raising maneuver: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Earth-Centered Inertial (ECI) frame: Cartesian Inertial (assumed static and with no external forces) frame, centered around Earth’s </a:t>
            </a:r>
            <a:r>
              <a:rPr lang="en-US" sz="1600" dirty="0" err="1">
                <a:solidFill>
                  <a:schemeClr val="tx1"/>
                </a:solidFill>
              </a:rPr>
              <a:t>CoM</a:t>
            </a:r>
            <a:r>
              <a:rPr lang="en-US" sz="1600" dirty="0">
                <a:solidFill>
                  <a:schemeClr val="tx1"/>
                </a:solidFill>
              </a:rPr>
              <a:t>, with the X axis pointing towards a fixed direction (vernal equinox), the Z axis pointing towards the North, and the Y axis completing the right-hand rule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Keplerian orbital elements: 6 figures that fully describe a particular instant in a specific orbit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Note that neither of the two representations consider Earth’s rotation. For that, a time reference that links the current instant to the angular rotation of the Earth is needed.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400" dirty="0">
                <a:solidFill>
                  <a:schemeClr val="tx1"/>
                </a:solidFill>
              </a:rPr>
              <a:t>Both representations are implemented by a state vector: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5DFA8AC-7E44-C88C-6D25-2CE053F362B2}"/>
                  </a:ext>
                </a:extLst>
              </p:cNvPr>
              <p:cNvSpPr txBox="1"/>
              <p:nvPr/>
            </p:nvSpPr>
            <p:spPr>
              <a:xfrm>
                <a:off x="3034512" y="4325160"/>
                <a:ext cx="1965731" cy="1551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𝐸𝐶𝐼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⃗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acc>
                            </m:e>
                          </m:eqAr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5DFA8AC-7E44-C88C-6D25-2CE053F36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512" y="4325160"/>
                <a:ext cx="1965731" cy="1551450"/>
              </a:xfrm>
              <a:prstGeom prst="rect">
                <a:avLst/>
              </a:prstGeom>
              <a:blipFill>
                <a:blip r:embed="rId2"/>
                <a:stretch>
                  <a:fillRect l="-1935" t="-813" b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11FF54E-B5D5-4F76-BBF4-925057865D9D}"/>
                  </a:ext>
                </a:extLst>
              </p:cNvPr>
              <p:cNvSpPr txBox="1"/>
              <p:nvPr/>
            </p:nvSpPr>
            <p:spPr>
              <a:xfrm>
                <a:off x="6649014" y="4378956"/>
                <a:ext cx="1611467" cy="14976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𝑜𝑟𝑏𝐸𝑙𝑒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11FF54E-B5D5-4F76-BBF4-925057865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014" y="4378956"/>
                <a:ext cx="1611467" cy="1497654"/>
              </a:xfrm>
              <a:prstGeom prst="rect">
                <a:avLst/>
              </a:prstGeom>
              <a:blipFill>
                <a:blip r:embed="rId3"/>
                <a:stretch>
                  <a:fillRect l="-2344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72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F37B-23EB-39F2-E16A-16E95F98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6C57C20-0610-78B2-74A8-E38C691C9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374CA7C-58AE-62B5-EA5A-F06E6FA7F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Orbital </a:t>
            </a:r>
            <a:r>
              <a:rPr lang="es-ES" dirty="0" err="1"/>
              <a:t>dynamics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A78F41A3-1AA7-BC11-6229-B0BFBE45042B}"/>
              </a:ext>
            </a:extLst>
          </p:cNvPr>
          <p:cNvSpPr txBox="1">
            <a:spLocks/>
          </p:cNvSpPr>
          <p:nvPr/>
        </p:nvSpPr>
        <p:spPr>
          <a:xfrm>
            <a:off x="483824" y="1566904"/>
            <a:ext cx="10521344" cy="2017868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Assuming: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Two body problem approximation (only Earth and spacecraft considered)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No atmospheric drag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No other external perturbations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The equations of motion of the vehicle can be reduced to the effect of the gravitational force: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5C3D7AF-9EAE-BC26-5C63-4431FFC09414}"/>
                  </a:ext>
                </a:extLst>
              </p:cNvPr>
              <p:cNvSpPr txBox="1"/>
              <p:nvPr/>
            </p:nvSpPr>
            <p:spPr>
              <a:xfrm>
                <a:off x="4075493" y="3498297"/>
                <a:ext cx="3014287" cy="5836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⃗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𝐸𝐶𝐼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5C3D7AF-9EAE-BC26-5C63-4431FFC09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493" y="3498297"/>
                <a:ext cx="3014287" cy="583621"/>
              </a:xfrm>
              <a:prstGeom prst="rect">
                <a:avLst/>
              </a:prstGeom>
              <a:blipFill>
                <a:blip r:embed="rId2"/>
                <a:stretch>
                  <a:fillRect l="-1261" t="-17021" r="-420" b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Marcador de texto 4">
                <a:extLst>
                  <a:ext uri="{FF2B5EF4-FFF2-40B4-BE49-F238E27FC236}">
                    <a16:creationId xmlns:a16="http://schemas.microsoft.com/office/drawing/2014/main" id="{B024B91D-7C52-7B43-A03F-1826E628F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329" y="4338482"/>
                <a:ext cx="10521344" cy="2017868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Where: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the gravitational parameter of the Earth;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3.986×</m:t>
                    </m:r>
                    <m:sSup>
                      <m:sSup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s-E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  <m:sup>
                        <m: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the ECI position vector</a:t>
                </a:r>
              </a:p>
            </p:txBody>
          </p:sp>
        </mc:Choice>
        <mc:Fallback>
          <p:sp>
            <p:nvSpPr>
              <p:cNvPr id="10" name="Marcador de texto 4">
                <a:extLst>
                  <a:ext uri="{FF2B5EF4-FFF2-40B4-BE49-F238E27FC236}">
                    <a16:creationId xmlns:a16="http://schemas.microsoft.com/office/drawing/2014/main" id="{B024B91D-7C52-7B43-A03F-1826E628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29" y="4338482"/>
                <a:ext cx="10521344" cy="2017868"/>
              </a:xfrm>
              <a:prstGeom prst="rect">
                <a:avLst/>
              </a:prstGeom>
              <a:blipFill>
                <a:blip r:embed="rId3"/>
                <a:stretch>
                  <a:fillRect t="-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51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765B-5D69-1417-C085-593B15AA2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8B2CEB0-5C62-7B8F-E6B0-F4D271DC1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C247E0F-1C23-7EFA-D0A3-FDC2B4D7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Orbital </a:t>
            </a:r>
            <a:r>
              <a:rPr lang="es-ES" dirty="0" err="1"/>
              <a:t>dynamics</a:t>
            </a:r>
            <a:r>
              <a:rPr lang="es-ES" dirty="0"/>
              <a:t> II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615EAC53-BBE0-EBAA-91F9-71AD309FBD67}"/>
              </a:ext>
            </a:extLst>
          </p:cNvPr>
          <p:cNvSpPr txBox="1">
            <a:spLocks/>
          </p:cNvSpPr>
          <p:nvPr/>
        </p:nvSpPr>
        <p:spPr>
          <a:xfrm>
            <a:off x="483824" y="1566904"/>
            <a:ext cx="10521344" cy="520841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So, the non-linear equations of motion can be expressed as: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D86008E-0BD7-7FAA-29AD-72DDAC0290C6}"/>
                  </a:ext>
                </a:extLst>
              </p:cNvPr>
              <p:cNvSpPr txBox="1"/>
              <p:nvPr/>
            </p:nvSpPr>
            <p:spPr>
              <a:xfrm>
                <a:off x="4585291" y="2113669"/>
                <a:ext cx="1846659" cy="811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⃗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𝐸𝐶𝐼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s-E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E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D86008E-0BD7-7FAA-29AD-72DDAC029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291" y="2113669"/>
                <a:ext cx="1846659" cy="811697"/>
              </a:xfrm>
              <a:prstGeom prst="rect">
                <a:avLst/>
              </a:prstGeom>
              <a:blipFill>
                <a:blip r:embed="rId2"/>
                <a:stretch>
                  <a:fillRect l="-1361" t="-6154" b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17F39BD9-C66C-38DB-14FE-B2852E691650}"/>
              </a:ext>
            </a:extLst>
          </p:cNvPr>
          <p:cNvSpPr txBox="1">
            <a:spLocks/>
          </p:cNvSpPr>
          <p:nvPr/>
        </p:nvSpPr>
        <p:spPr>
          <a:xfrm>
            <a:off x="483824" y="3089302"/>
            <a:ext cx="10521344" cy="365125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Or, as a </a:t>
            </a:r>
            <a:r>
              <a:rPr lang="en-US" sz="1400" dirty="0" err="1">
                <a:solidFill>
                  <a:schemeClr val="tx1"/>
                </a:solidFill>
              </a:rPr>
              <a:t>Matlab</a:t>
            </a:r>
            <a:r>
              <a:rPr lang="en-US" sz="1400" dirty="0">
                <a:solidFill>
                  <a:schemeClr val="tx1"/>
                </a:solidFill>
              </a:rPr>
              <a:t> function: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BA4681-34F9-4DC6-C5A5-5844994B4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272" y="3999042"/>
            <a:ext cx="7772400" cy="1514103"/>
          </a:xfrm>
          <a:prstGeom prst="rect">
            <a:avLst/>
          </a:prstGeom>
        </p:spPr>
      </p:pic>
      <p:sp>
        <p:nvSpPr>
          <p:cNvPr id="6" name="Flecha derecha 5">
            <a:extLst>
              <a:ext uri="{FF2B5EF4-FFF2-40B4-BE49-F238E27FC236}">
                <a16:creationId xmlns:a16="http://schemas.microsoft.com/office/drawing/2014/main" id="{4C9B15CC-9EAF-3EE6-25F5-5786B30BD6B3}"/>
              </a:ext>
            </a:extLst>
          </p:cNvPr>
          <p:cNvSpPr/>
          <p:nvPr/>
        </p:nvSpPr>
        <p:spPr>
          <a:xfrm rot="13333679">
            <a:off x="5741298" y="5457602"/>
            <a:ext cx="968347" cy="245051"/>
          </a:xfrm>
          <a:prstGeom prst="rightArrow">
            <a:avLst>
              <a:gd name="adj1" fmla="val 50000"/>
              <a:gd name="adj2" fmla="val 1108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45C8DA-3C54-6158-E1F3-0E2FF95BE79F}"/>
              </a:ext>
            </a:extLst>
          </p:cNvPr>
          <p:cNvSpPr txBox="1"/>
          <p:nvPr/>
        </p:nvSpPr>
        <p:spPr>
          <a:xfrm>
            <a:off x="6549271" y="5873094"/>
            <a:ext cx="367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Note the element-wise multiplication</a:t>
            </a:r>
          </a:p>
        </p:txBody>
      </p:sp>
      <p:sp>
        <p:nvSpPr>
          <p:cNvPr id="9" name="Flecha derecha 8">
            <a:extLst>
              <a:ext uri="{FF2B5EF4-FFF2-40B4-BE49-F238E27FC236}">
                <a16:creationId xmlns:a16="http://schemas.microsoft.com/office/drawing/2014/main" id="{57FF246A-A8FF-58D6-4BBC-1BB6B013D349}"/>
              </a:ext>
            </a:extLst>
          </p:cNvPr>
          <p:cNvSpPr/>
          <p:nvPr/>
        </p:nvSpPr>
        <p:spPr>
          <a:xfrm rot="9223069">
            <a:off x="5123452" y="3630806"/>
            <a:ext cx="968347" cy="245051"/>
          </a:xfrm>
          <a:prstGeom prst="rightArrow">
            <a:avLst>
              <a:gd name="adj1" fmla="val 50000"/>
              <a:gd name="adj2" fmla="val 1108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C12F95-BA8C-A8EF-A075-BAE7C7C0FD94}"/>
              </a:ext>
            </a:extLst>
          </p:cNvPr>
          <p:cNvSpPr txBox="1"/>
          <p:nvPr/>
        </p:nvSpPr>
        <p:spPr>
          <a:xfrm>
            <a:off x="6225471" y="3326098"/>
            <a:ext cx="415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time input is needed to integrate later</a:t>
            </a:r>
          </a:p>
        </p:txBody>
      </p:sp>
    </p:spTree>
    <p:extLst>
      <p:ext uri="{BB962C8B-B14F-4D97-AF65-F5344CB8AC3E}">
        <p14:creationId xmlns:p14="http://schemas.microsoft.com/office/powerpoint/2010/main" val="417105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13284BF-C89B-4CDB-94DB-C59F079CE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22DBF1-9AEA-43F1-892A-5C930C04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7782968" cy="585905"/>
          </a:xfrm>
        </p:spPr>
        <p:txBody>
          <a:bodyPr/>
          <a:lstStyle/>
          <a:p>
            <a:r>
              <a:rPr lang="es-ES" dirty="0" err="1"/>
              <a:t>Hohmann</a:t>
            </a:r>
            <a:r>
              <a:rPr lang="es-ES" dirty="0"/>
              <a:t> </a:t>
            </a:r>
            <a:r>
              <a:rPr lang="es-ES" dirty="0" err="1"/>
              <a:t>transfers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5008DC-88BE-4973-6C85-A83019976C4B}"/>
              </a:ext>
            </a:extLst>
          </p:cNvPr>
          <p:cNvSpPr txBox="1">
            <a:spLocks/>
          </p:cNvSpPr>
          <p:nvPr/>
        </p:nvSpPr>
        <p:spPr>
          <a:xfrm>
            <a:off x="567212" y="1434891"/>
            <a:ext cx="6114942" cy="4740278"/>
          </a:xfrm>
          <a:prstGeom prst="rect">
            <a:avLst/>
          </a:prstGeom>
        </p:spPr>
        <p:txBody>
          <a:bodyPr vert="horz" lIns="0" tIns="38100" rIns="76200" bIns="38100" rtlCol="0">
            <a:normAutofit fontScale="925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100" lvl="1" indent="0" algn="just">
              <a:lnSpc>
                <a:spcPct val="170000"/>
              </a:lnSpc>
              <a:spcBef>
                <a:spcPct val="50000"/>
              </a:spcBef>
              <a:buClr>
                <a:srgbClr val="FF0000"/>
              </a:buClr>
              <a:buNone/>
            </a:pPr>
            <a:r>
              <a:rPr lang="es-ES" sz="1400" dirty="0">
                <a:solidFill>
                  <a:schemeClr val="tx1"/>
                </a:solidFill>
              </a:rPr>
              <a:t>A simple </a:t>
            </a:r>
            <a:r>
              <a:rPr lang="es-ES" sz="1400" dirty="0" err="1">
                <a:solidFill>
                  <a:schemeClr val="tx1"/>
                </a:solidFill>
              </a:rPr>
              <a:t>technique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b="1" dirty="0" err="1">
                <a:solidFill>
                  <a:schemeClr val="tx1"/>
                </a:solidFill>
              </a:rPr>
              <a:t>achieving</a:t>
            </a:r>
            <a:r>
              <a:rPr lang="es-ES" sz="1400" b="1" dirty="0">
                <a:solidFill>
                  <a:schemeClr val="tx1"/>
                </a:solidFill>
              </a:rPr>
              <a:t> a target </a:t>
            </a:r>
            <a:r>
              <a:rPr lang="es-ES" sz="1400" b="1" dirty="0" err="1">
                <a:solidFill>
                  <a:schemeClr val="tx1"/>
                </a:solidFill>
              </a:rPr>
              <a:t>orbit</a:t>
            </a:r>
            <a:r>
              <a:rPr lang="es-ES" sz="1400" b="1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performing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Hohmann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transfers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example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from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lower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orbit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higher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orbit</a:t>
            </a:r>
            <a:r>
              <a:rPr lang="es-ES" sz="1400" dirty="0">
                <a:solidFill>
                  <a:schemeClr val="tx1"/>
                </a:solidFill>
              </a:rPr>
              <a:t>:</a:t>
            </a:r>
          </a:p>
          <a:p>
            <a:pPr marL="463000" lvl="1" indent="-342900" algn="just">
              <a:lnSpc>
                <a:spcPct val="170000"/>
              </a:lnSpc>
              <a:spcBef>
                <a:spcPct val="500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es-ES" sz="1400" dirty="0" err="1">
                <a:solidFill>
                  <a:schemeClr val="tx1"/>
                </a:solidFill>
              </a:rPr>
              <a:t>From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initial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orbit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velocity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increased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perigee</a:t>
            </a:r>
            <a:r>
              <a:rPr lang="es-ES" sz="1400" dirty="0">
                <a:solidFill>
                  <a:schemeClr val="tx1"/>
                </a:solidFill>
              </a:rPr>
              <a:t> so </a:t>
            </a:r>
            <a:r>
              <a:rPr lang="es-ES" sz="1400" dirty="0" err="1">
                <a:solidFill>
                  <a:schemeClr val="tx1"/>
                </a:solidFill>
              </a:rPr>
              <a:t>that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new </a:t>
            </a:r>
            <a:r>
              <a:rPr lang="es-ES" sz="1400" dirty="0" err="1">
                <a:solidFill>
                  <a:schemeClr val="tx1"/>
                </a:solidFill>
              </a:rPr>
              <a:t>apogee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at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altitude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of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desired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orbit</a:t>
            </a:r>
            <a:r>
              <a:rPr lang="es-ES" sz="1400" dirty="0">
                <a:solidFill>
                  <a:schemeClr val="tx1"/>
                </a:solidFill>
              </a:rPr>
              <a:t>. </a:t>
            </a:r>
            <a:r>
              <a:rPr lang="es-ES" sz="1400" dirty="0" err="1">
                <a:solidFill>
                  <a:schemeClr val="tx1"/>
                </a:solidFill>
              </a:rPr>
              <a:t>This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maneuver</a:t>
            </a:r>
            <a:r>
              <a:rPr lang="es-ES" sz="1400" dirty="0">
                <a:solidFill>
                  <a:schemeClr val="tx1"/>
                </a:solidFill>
              </a:rPr>
              <a:t> places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satellite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b="1" dirty="0">
                <a:solidFill>
                  <a:schemeClr val="tx1"/>
                </a:solidFill>
              </a:rPr>
              <a:t>transfer </a:t>
            </a:r>
            <a:r>
              <a:rPr lang="es-ES" sz="1400" b="1" dirty="0" err="1">
                <a:solidFill>
                  <a:schemeClr val="tx1"/>
                </a:solidFill>
              </a:rPr>
              <a:t>orbit</a:t>
            </a:r>
            <a:endParaRPr lang="es-ES" sz="1400" dirty="0">
              <a:solidFill>
                <a:schemeClr val="tx1"/>
              </a:solidFill>
            </a:endParaRPr>
          </a:p>
          <a:p>
            <a:pPr marL="463000" lvl="1" indent="-342900" algn="just">
              <a:lnSpc>
                <a:spcPct val="170000"/>
              </a:lnSpc>
              <a:spcBef>
                <a:spcPct val="500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es-ES" sz="1400" dirty="0">
                <a:solidFill>
                  <a:schemeClr val="tx1"/>
                </a:solidFill>
              </a:rPr>
              <a:t>Once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satellite</a:t>
            </a:r>
            <a:r>
              <a:rPr lang="es-ES" sz="1400" dirty="0">
                <a:solidFill>
                  <a:schemeClr val="tx1"/>
                </a:solidFill>
              </a:rPr>
              <a:t> has </a:t>
            </a:r>
            <a:r>
              <a:rPr lang="es-ES" sz="1400" dirty="0" err="1">
                <a:solidFill>
                  <a:schemeClr val="tx1"/>
                </a:solidFill>
              </a:rPr>
              <a:t>reached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apogee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of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transfer </a:t>
            </a:r>
            <a:r>
              <a:rPr lang="es-ES" sz="1400" dirty="0" err="1">
                <a:solidFill>
                  <a:schemeClr val="tx1"/>
                </a:solidFill>
              </a:rPr>
              <a:t>orbit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velocity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increased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again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b="1" dirty="0" err="1">
                <a:solidFill>
                  <a:schemeClr val="tx1"/>
                </a:solidFill>
              </a:rPr>
              <a:t>circularize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reach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b="1" dirty="0">
                <a:solidFill>
                  <a:schemeClr val="tx1"/>
                </a:solidFill>
              </a:rPr>
              <a:t>target </a:t>
            </a:r>
            <a:r>
              <a:rPr lang="es-ES" sz="1400" b="1" dirty="0" err="1">
                <a:solidFill>
                  <a:schemeClr val="tx1"/>
                </a:solidFill>
              </a:rPr>
              <a:t>orbit</a:t>
            </a:r>
            <a:endParaRPr lang="es-ES" sz="1400" dirty="0">
              <a:solidFill>
                <a:schemeClr val="tx1"/>
              </a:solidFill>
            </a:endParaRPr>
          </a:p>
          <a:p>
            <a:pPr marL="120100" lvl="1" indent="0" algn="just">
              <a:lnSpc>
                <a:spcPct val="170000"/>
              </a:lnSpc>
              <a:spcBef>
                <a:spcPct val="50000"/>
              </a:spcBef>
              <a:buClr>
                <a:srgbClr val="FF0000"/>
              </a:buClr>
              <a:buNone/>
            </a:pP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opposite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process</a:t>
            </a:r>
            <a:r>
              <a:rPr lang="es-ES" sz="1400" dirty="0">
                <a:solidFill>
                  <a:schemeClr val="tx1"/>
                </a:solidFill>
              </a:rPr>
              <a:t> can be </a:t>
            </a:r>
            <a:r>
              <a:rPr lang="es-ES" sz="1400" dirty="0" err="1">
                <a:solidFill>
                  <a:schemeClr val="tx1"/>
                </a:solidFill>
              </a:rPr>
              <a:t>followed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go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from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higher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lower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orbit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with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maneuvers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substracting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velocity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from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orbiter</a:t>
            </a:r>
            <a:endParaRPr lang="es-ES" sz="1400" dirty="0">
              <a:solidFill>
                <a:schemeClr val="tx1"/>
              </a:solidFill>
            </a:endParaRPr>
          </a:p>
          <a:p>
            <a:pPr marL="120100" lvl="1" indent="0" algn="just">
              <a:lnSpc>
                <a:spcPct val="170000"/>
              </a:lnSpc>
              <a:spcBef>
                <a:spcPct val="50000"/>
              </a:spcBef>
              <a:buClr>
                <a:srgbClr val="FF0000"/>
              </a:buClr>
              <a:buNone/>
            </a:pP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our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calculations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b="1" dirty="0" err="1">
                <a:solidFill>
                  <a:schemeClr val="tx1"/>
                </a:solidFill>
              </a:rPr>
              <a:t>we</a:t>
            </a:r>
            <a:r>
              <a:rPr lang="es-ES" sz="1400" b="1" dirty="0">
                <a:solidFill>
                  <a:schemeClr val="tx1"/>
                </a:solidFill>
              </a:rPr>
              <a:t> </a:t>
            </a:r>
            <a:r>
              <a:rPr lang="es-ES" sz="1400" b="1" dirty="0" err="1">
                <a:solidFill>
                  <a:schemeClr val="tx1"/>
                </a:solidFill>
              </a:rPr>
              <a:t>assume</a:t>
            </a:r>
            <a:r>
              <a:rPr lang="es-ES" sz="1400" b="1" dirty="0">
                <a:solidFill>
                  <a:schemeClr val="tx1"/>
                </a:solidFill>
              </a:rPr>
              <a:t> impulsive </a:t>
            </a:r>
            <a:r>
              <a:rPr lang="es-ES" sz="1400" b="1" dirty="0" err="1">
                <a:solidFill>
                  <a:schemeClr val="tx1"/>
                </a:solidFill>
              </a:rPr>
              <a:t>maneuvers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meaning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that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increment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velocity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instantaneous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applied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optimal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moment</a:t>
            </a:r>
            <a:r>
              <a:rPr lang="es-ES" sz="14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5362" name="Picture 2" descr="Hohmann transfer orbit - Wikipedia">
            <a:extLst>
              <a:ext uri="{FF2B5EF4-FFF2-40B4-BE49-F238E27FC236}">
                <a16:creationId xmlns:a16="http://schemas.microsoft.com/office/drawing/2014/main" id="{C2BE5FDF-E0D0-4DDC-3EB3-D4E8C45C4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187" y="1547699"/>
            <a:ext cx="3762601" cy="37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21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7753-7CB7-9976-DC1A-A1265AA3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D4E037B-C40F-6120-0A71-EAE316471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4D529C0-2043-94DB-A4B9-E9B44E71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Problem</a:t>
            </a:r>
            <a:r>
              <a:rPr lang="es-ES" dirty="0"/>
              <a:t> </a:t>
            </a:r>
            <a:r>
              <a:rPr lang="es-ES" dirty="0" err="1"/>
              <a:t>parametrization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34243AB9-8469-5580-1201-6E30E53D62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824" y="1566903"/>
                <a:ext cx="10521344" cy="4515433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Our goal is to simulate an orbit raising maneuver performed by means of two burns, for that we need: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600" dirty="0">
                    <a:solidFill>
                      <a:schemeClr val="tx1"/>
                    </a:solidFill>
                  </a:rPr>
                  <a:t>Initial orbit: We assume a circular orbit around Earth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360" dirty="0">
                  <a:solidFill>
                    <a:schemeClr val="tx1"/>
                  </a:solidFill>
                </a:endParaRP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600" dirty="0">
                    <a:solidFill>
                      <a:schemeClr val="tx1"/>
                    </a:solidFill>
                  </a:rPr>
                  <a:t>Final orbit: We assume a higher, circular orbit around earth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sz="1360" dirty="0">
                  <a:solidFill>
                    <a:schemeClr val="tx1"/>
                  </a:solidFill>
                </a:endParaRP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600" dirty="0">
                    <a:solidFill>
                      <a:schemeClr val="tx1"/>
                    </a:solidFill>
                  </a:rPr>
                  <a:t>Spacecraft parameters: </a:t>
                </a:r>
                <a:r>
                  <a:rPr lang="en-US" sz="1600" dirty="0">
                    <a:solidFill>
                      <a:schemeClr val="accent5">
                        <a:lumMod val="75000"/>
                      </a:schemeClr>
                    </a:solidFill>
                  </a:rPr>
                  <a:t>(For future work)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360" dirty="0">
                    <a:solidFill>
                      <a:schemeClr val="accent5">
                        <a:lumMod val="75000"/>
                      </a:schemeClr>
                    </a:solidFill>
                  </a:rPr>
                  <a:t>Initial mass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en-US" sz="1360" dirty="0">
                    <a:solidFill>
                      <a:schemeClr val="accent5">
                        <a:lumMod val="75000"/>
                      </a:schemeClr>
                    </a:solidFill>
                  </a:rPr>
                  <a:t>)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360" dirty="0">
                    <a:solidFill>
                      <a:schemeClr val="accent5">
                        <a:lumMod val="75000"/>
                      </a:schemeClr>
                    </a:solidFill>
                  </a:rPr>
                  <a:t>Specific impulse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𝑠𝑝</m:t>
                        </m:r>
                      </m:sub>
                    </m:sSub>
                  </m:oMath>
                </a14:m>
                <a:r>
                  <a:rPr lang="en-US" sz="1360" dirty="0">
                    <a:solidFill>
                      <a:schemeClr val="accent5">
                        <a:lumMod val="75000"/>
                      </a:schemeClr>
                    </a:solidFill>
                  </a:rPr>
                  <a:t>)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400" dirty="0">
                    <a:solidFill>
                      <a:schemeClr val="tx1"/>
                    </a:solidFill>
                  </a:rPr>
                  <a:t>Note that we are only considering the maneuver in terms of orbital altitude change, in a real mission the timing is also relevant in order to have control over the rest of the orbital elements.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400" dirty="0">
                    <a:solidFill>
                      <a:schemeClr val="tx1"/>
                    </a:solidFill>
                  </a:rPr>
                  <a:t>The initial conditions need to be formulated in terms of the ECI state vector: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0, 0</m:t>
                            </m:r>
                          </m:e>
                        </m:d>
                      </m:e>
                      <m:sup>
                        <m: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⃗"/>
                                <m:ctrlP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acc>
                      </m:e>
                      <m:sub>
                        <m: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𝐸𝐶𝐼</m:t>
                        </m:r>
                      </m:sub>
                    </m:sSub>
                    <m:r>
                      <a:rPr lang="es-E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=(0, </m:t>
                    </m:r>
                    <m:rad>
                      <m:radPr>
                        <m:degHide m:val="on"/>
                        <m:ctrlPr>
                          <a:rPr lang="es-E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s-E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s-E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rad>
                    <m:r>
                      <a:rPr lang="es-ES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assuming a circular, equatorial orbit</a:t>
                </a:r>
              </a:p>
            </p:txBody>
          </p:sp>
        </mc:Choice>
        <mc:Fallback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34243AB9-8469-5580-1201-6E30E53D6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24" y="1566903"/>
                <a:ext cx="10521344" cy="4515433"/>
              </a:xfrm>
              <a:prstGeom prst="rect">
                <a:avLst/>
              </a:prstGeom>
              <a:blipFill>
                <a:blip r:embed="rId2"/>
                <a:stretch>
                  <a:fillRect t="-560" r="-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205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8616-F740-73A5-70EC-D2300486A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A6C0DB-3D2E-17F1-973A-923119163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406A7A2-A3CC-71A2-6399-60FA784A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Problem</a:t>
            </a:r>
            <a:r>
              <a:rPr lang="es-ES" dirty="0"/>
              <a:t> </a:t>
            </a:r>
            <a:r>
              <a:rPr lang="es-ES" dirty="0" err="1"/>
              <a:t>parametrization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92FC2598-3C15-CEC1-FA8A-9051906FEC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824" y="1566903"/>
                <a:ext cx="10521344" cy="4515433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 lnSpcReduction="10000"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We also need to calculate: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600" dirty="0">
                    <a:solidFill>
                      <a:schemeClr val="tx1"/>
                    </a:solidFill>
                  </a:rPr>
                  <a:t>Transfer arc velocity @ perigee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360" dirty="0">
                    <a:solidFill>
                      <a:schemeClr val="tx1"/>
                    </a:solidFill>
                  </a:rPr>
                  <a:t>Vis-Viva equation: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6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36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36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𝑝𝑒𝑟</m:t>
                                    </m:r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𝑡𝑟𝑎𝑛𝑠𝑓𝑒𝑟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𝑡𝑟𝑎𝑛𝑠𝑓𝑒𝑟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𝑡𝑟𝑎𝑛𝑠𝑓𝑒𝑟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360" dirty="0">
                    <a:solidFill>
                      <a:schemeClr val="tx1"/>
                    </a:solidFill>
                  </a:rPr>
                  <a:t> </a:t>
                </a:r>
                <a:r>
                  <a:rPr lang="en-US" sz="1360" dirty="0">
                    <a:solidFill>
                      <a:schemeClr val="tx1"/>
                    </a:solidFill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36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𝑝𝑒𝑟</m:t>
                            </m:r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_</m:t>
                            </m:r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𝑡𝑟𝑎𝑛𝑠𝑓𝑒𝑟</m:t>
                            </m:r>
                          </m:sub>
                        </m:sSub>
                      </m:e>
                    </m:d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𝐸</m:t>
                            </m:r>
                          </m:sub>
                        </m:sSub>
                        <m:d>
                          <m:dPr>
                            <m:ctrlPr>
                              <a:rPr lang="es-ES" sz="136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136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s-ES" sz="136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2</m:t>
                                </m:r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s-ES" sz="136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36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36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s-ES" sz="136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𝑝𝑒𝑟</m:t>
                                        </m:r>
                                        <m:r>
                                          <a:rPr lang="es-ES" sz="136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,   </m:t>
                                        </m:r>
                                        <m:r>
                                          <a:rPr lang="es-ES" sz="136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𝑡𝑟𝑎𝑛𝑠𝑓𝑒𝑟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a:rPr lang="es-ES" sz="136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ES" sz="136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s-ES" sz="136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s-ES" sz="136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sz="136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𝑡𝑟𝑎𝑛𝑠𝑓𝑒𝑟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sz="1360" dirty="0">
                            <a:solidFill>
                              <a:schemeClr val="tx1"/>
                            </a:solidFill>
                          </a:rPr>
                          <m:t>  </m:t>
                        </m:r>
                      </m:e>
                    </m:rad>
                  </m:oMath>
                </a14:m>
                <a:endParaRPr lang="en-US" sz="1360" dirty="0">
                  <a:solidFill>
                    <a:schemeClr val="tx1"/>
                  </a:solidFill>
                </a:endParaRP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360" dirty="0">
                    <a:solidFill>
                      <a:schemeClr val="tx1"/>
                    </a:solidFill>
                  </a:rPr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𝑡𝑟𝑎𝑛𝑠𝑓𝑒𝑟</m:t>
                        </m:r>
                      </m:sub>
                    </m:sSub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36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𝑡𝑟𝑎𝑛𝑠𝑓𝑒𝑟</m:t>
                        </m:r>
                      </m:sub>
                    </m:sSub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360" dirty="0">
                  <a:solidFill>
                    <a:schemeClr val="tx1"/>
                  </a:solidFill>
                </a:endParaRP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600" dirty="0">
                    <a:solidFill>
                      <a:schemeClr val="tx1"/>
                    </a:solidFill>
                  </a:rPr>
                  <a:t>Transfer orbital period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𝑡𝑟𝑎𝑛𝑠𝑓𝑒𝑟</m:t>
                        </m:r>
                      </m:sub>
                    </m:sSub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𝑡𝑟𝑎𝑛𝑠𝑓𝑒𝑟</m:t>
                                    </m:r>
                                  </m:sub>
                                  <m:sup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rad>
                  </m:oMath>
                </a14:m>
                <a:r>
                  <a:rPr lang="en-US" sz="1360" dirty="0">
                    <a:solidFill>
                      <a:schemeClr val="tx1"/>
                    </a:solidFill>
                  </a:rPr>
                  <a:t> (Not to be confused with the transfer duration)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n-US" sz="1600" dirty="0">
                    <a:solidFill>
                      <a:schemeClr val="tx1"/>
                    </a:solidFill>
                  </a:rPr>
                  <a:t>Final orbit velocity module</a:t>
                </a:r>
              </a:p>
              <a:p>
                <a:pPr marL="1737117" lvl="3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36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36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136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136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sz="136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36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36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s-ES" sz="136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  <m:r>
                                      <a:rPr lang="es-ES" sz="136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36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36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s-ES" sz="136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s-ES" sz="136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sz="136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92FC2598-3C15-CEC1-FA8A-9051906FE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24" y="1566903"/>
                <a:ext cx="10521344" cy="4515433"/>
              </a:xfrm>
              <a:prstGeom prst="rect">
                <a:avLst/>
              </a:prstGeom>
              <a:blipFill>
                <a:blip r:embed="rId2"/>
                <a:stretch>
                  <a:fillRect t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290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E14C2-8FBE-5536-CC5C-87B054B7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701252-25B1-A8DC-32AA-C30FB2C4F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219BD75-637A-B39F-4F09-3B0B20C5A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Steps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15D1AB6B-BEC6-B2BB-3C04-9A0E332FA0CA}"/>
              </a:ext>
            </a:extLst>
          </p:cNvPr>
          <p:cNvSpPr txBox="1">
            <a:spLocks/>
          </p:cNvSpPr>
          <p:nvPr/>
        </p:nvSpPr>
        <p:spPr>
          <a:xfrm>
            <a:off x="483824" y="1566903"/>
            <a:ext cx="10521344" cy="4515433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Simulate equatorial, circular orbit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Simulate inclined, circular orbit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 orbit raising maneuver</a:t>
            </a:r>
          </a:p>
        </p:txBody>
      </p:sp>
    </p:spTree>
    <p:extLst>
      <p:ext uri="{BB962C8B-B14F-4D97-AF65-F5344CB8AC3E}">
        <p14:creationId xmlns:p14="http://schemas.microsoft.com/office/powerpoint/2010/main" val="416799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7075FA6-95B3-43B5-B750-B4A68BC0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578" y="2781880"/>
            <a:ext cx="3686763" cy="647121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!</a:t>
            </a:r>
            <a:br>
              <a:rPr lang="es-ES" dirty="0"/>
            </a:b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questions</a:t>
            </a:r>
            <a:r>
              <a:rPr lang="es-ES" dirty="0"/>
              <a:t>?</a:t>
            </a:r>
          </a:p>
        </p:txBody>
      </p:sp>
      <p:pic>
        <p:nvPicPr>
          <p:cNvPr id="4" name="Imagen 3" descr="Forma&#10;&#10;Descripción generada automáticamente con confianza baja">
            <a:extLst>
              <a:ext uri="{FF2B5EF4-FFF2-40B4-BE49-F238E27FC236}">
                <a16:creationId xmlns:a16="http://schemas.microsoft.com/office/drawing/2014/main" id="{B766F0B8-ED07-4249-9566-6520B736F3A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154" y="4337890"/>
            <a:ext cx="900028" cy="90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44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24409</TotalTime>
  <Words>712</Words>
  <Application>Microsoft Macintosh PowerPoint</Application>
  <PresentationFormat>Panorámica</PresentationFormat>
  <Paragraphs>88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Century Gothic</vt:lpstr>
      <vt:lpstr>Sunflower</vt:lpstr>
      <vt:lpstr>Wingdings</vt:lpstr>
      <vt:lpstr>Tema de Office</vt:lpstr>
      <vt:lpstr>Orbital maneuvering simulation</vt:lpstr>
      <vt:lpstr>Contents</vt:lpstr>
      <vt:lpstr>Introduction</vt:lpstr>
      <vt:lpstr>State representation</vt:lpstr>
      <vt:lpstr>Orbital dynamics</vt:lpstr>
      <vt:lpstr>Orbital dynamics II</vt:lpstr>
      <vt:lpstr>Hohmann transfers</vt:lpstr>
      <vt:lpstr>Problem parametrization</vt:lpstr>
      <vt:lpstr>Problem parametrization</vt:lpstr>
      <vt:lpstr>Steps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Aerospace Technology</dc:title>
  <dc:creator>Antonio Hernández-Rodicio Mateos</dc:creator>
  <cp:lastModifiedBy>ANTONIO HERNANDEZ-RODICIO MATEOS</cp:lastModifiedBy>
  <cp:revision>51</cp:revision>
  <dcterms:created xsi:type="dcterms:W3CDTF">2023-09-20T20:33:34Z</dcterms:created>
  <dcterms:modified xsi:type="dcterms:W3CDTF">2025-11-25T12:41:52Z</dcterms:modified>
</cp:coreProperties>
</file>